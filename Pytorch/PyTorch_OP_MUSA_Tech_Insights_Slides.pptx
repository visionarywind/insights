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 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notesMasterIdLst>
    <p:notesMasterId r:id="rIdNotesMaster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Master1" Type="http://schemas.openxmlformats.org/officeDocument/2006/relationships/slideMaster" Target="slideMasters/slideMaster1.xml"/><Relationship Id="rIdNotesMaster1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  <p:txStyles>
    <p:titleStyle/>
    <p:bodyStyle/>
    <p:otherStyle/>
  </p:txStyles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开场可以先说明分享目标：不是罗列 PyTorch API，而是把 OP 放到推理框架、后端 kernel、Graph 捕获和 MUSA 适配链路中理解。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听众如果来自 AIInfra、后端适配或推理框架开发，最关心的是同一个 OP 在热路径中是否真的高效、稳定、可验证。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这一页要建立后续讨论的边界：语义正确只是第一步，后端命中、同步边界、layout 契约和 graph 安全决定工程质量。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从 OP 视角切入的价值在于，PyTorch API 名称往往掩盖了真实执行路径。比如 matmul 可能命中高性能后端，也可能走 fallback；copy_ 可能只是数据搬运，也可能成为 Graph replay 前最大的固定成本。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同一个 OP 放在 eager、torch.compile、Graph 或分布式通信链路中，风险完全不同。适配时不能只问能不能跑，还要问在哪跑、何时同步、用什么 layout、是否进入 hot path。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这里可以强调：MUSA 适配的关键不是 CUDA 字符串替换，而是让每个关键 OP 在真实框架链路中满足后端契约。</a:t>
            </a:r>
            <a:endParaRPr 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这一页是路线图。先讲 OP 分类，建立统一语言；再讲 SGLang、vLLM、Megatron 怎么用这些 OP；随后进入 DeepSeek V4 源码链路；最后收敛到执行模式和 MUSA 排查方法。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演讲节奏上，前半部分回答“有哪些 OP、用在哪里”，后半部分回答“为什么这里会出问题、如何定位”。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可以提醒听众：后面的源码拆解不是为了背代码，而是为了识别 OP 在控制面、metadata、fallback reference 或生产热路径中的不同角色。</a:t>
            </a:r>
            <a:endParaRPr 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证据范围要讲清楚，避免把经验判断说成性能结论。MUSA 用例能够证明输入输出语义、shape、dtype、device 行为正确，但后端命中和性能还需要 profiler 与 kernel timeline。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源码链路提供的是位置证据：OP 出现在 scheduler、metadata、Graph replay、attention、MoE、sampling 或通信阶段，工程含义完全不同。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可以说明后续结论分两类：已经由用例和源码支撑的功能/链路结论，以及需要性能工具进一步确认的性能判断。</a:t>
            </a:r>
            <a:endParaRPr 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这条链路是全场最重要的分析模板。任何 OP 都要从 API 入口追到 dispatcher、backend kernel，再追到框架热路径。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Dispatcher 决定使用哪个 DispatchKey，backend kernel 决定是否命中 CPU、CUDA、MUSA、Composite 或 custom 实现。框架位置决定这个 OP 是启动期成本、控制面成本，还是每 token 都会执行的热路径成本。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排查时不要只 grep API 名字。要看 tensor 的 device、dtype、stride、shape 是否满足后端实现，以及 Graph capture 时对象地址和执行路径是否稳定。</a:t>
            </a:r>
            <a:endParaRPr 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这个分类可以作为后续所有问题的索引。GPU OP 关注 layout 和 kernel；CPU OP 关注是否侵入热路径；Sync OP 关注隐式 barrier；Dynamic Shape OP 关注 Graph 和 bucket；Graph OP 关注固定地址和固定 shape。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分类不是按 PyTorch 文档的数学类别划分，而是按 AIInfra 工程风险划分。比如 copy_ 是普通 Tensor OP，但在 Graph replay 前就是关键入口；item 是普通取值 API，但在 decode 热路径中就是同步风险。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讲这页时可以用一个例子串起来：decode 阶段 CPU planner 生成 metadata，copy_ 更新固定 buffer，Graph replay 执行 attention，最后 sampling 只同步小结果。</a:t>
            </a:r>
            <a:endParaRPr 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GPU OP 的第一层要求是语义正确，第二层要求是 layout、dtype 和后端命中。empty/new_empty 常用于固定 buffer，但 empty 不初始化，后续 kernel 必须完整写入。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view/reshape/contiguous 是最容易被忽略的性能和正确性边界。custom kernel 往往假设 contiguous 或特定 stride，错误 layout 可能导致隐式 copy，也可能直接读错。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matmul、linear、softmax、topk、silu 在模型语义上很常见，但生产路径通常希望融合或命中专用后端。小 OP 链在 decode 小 batch 下尤其容易被 launch overhead 放大。</a:t>
            </a:r>
            <a:endParaRPr 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CPU OP 不是坏事，关键是边界清楚。request queue、tokenizer、KV block 分配、prefix cache、协议输出，本来就应该在 CPU 控制面完成。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风险来自 CPU OP 读取 device tensor 的结果，例如 item、tolist、cpu 会让 host 等待 device 完成，破坏流水线和 overlap。每 token decode 中反复同步会直接拉高尾延迟。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stream/event 是局部依赖工具，适合表达两个 stream 之间的顺序；全设备 synchronize 更像 debug 或 benchmark 边界。分布式 work.wait 也要推迟到真正需要结果的位置。</a:t>
            </a:r>
            <a:endParaRPr 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Dynamic Shape OP 的输出长度依赖数据值，例如 nonzero、unique、masked_select。这类 OP 在 eager 中很好用，但在 Graph replay 中会破坏固定 shape 假设。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推理框架常用 bucket、padding、mask、page table、top-k 把动态请求收敛成固定规格。Graph replay 前用 copy_/fill_/zero_ 更新内容，Graph 内只消费固定形状的 tensor。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这里要强调一个常见误区：Graph 不是优化器。如果 capture 时已经走了低效 fallback 或包含过多小 OP，replay 会稳定地复用这条低效路径。</a:t>
            </a:r>
            <a:endParaRPr 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SGLang 中 PyTorch OP 大致分四层。模型语义层让代码可读可验证；metadata 层把动态请求整理成 tensor；Graph replay 层负责更新固定 buffer；fused backend 层承接性能。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这种分层能解释为什么同一个 copy_ 在不同位置含义不同：普通 forward 里可能只是拷贝，Graph replay 前则是让固定对象承载新 batch 的核心动作。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MUSA 适配时，应优先确认热路径是否进入 FlashMLA、DeepGEMM、TileLang 或 MUSA native，而不是停留在 PyTorch fallback reference。</a:t>
            </a:r>
            <a:endParaRPr 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DeepSeek V4 的主线可以按时序讲：CPU scheduler 决定 batch、bucket 和 KV slot；metadata 把这些决策变成 device 可消费的 tensor；Graph runner 更新固定输入；graph.replay 执行稳定路径。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关键工程模式是动态决策在 Graph 外完成，Graph 内不创建新对象、不改变 shape、不依赖 Python 控制流。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sampling 阶段只同步必要的小结果，避免把整个 logits 或中间状态搬回 CPU。这个边界对推理服务吞吐和尾延迟都很重要。</a:t>
            </a:r>
            <a:endParaRPr 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DSV4 metadata 可以理解成 attention backend 的说明书。它告诉后端每条 sequence 多长、token 在哪里、KV cache 读写哪些 page、输出写到哪里。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Graph replay 场景下 metadata 对象地址保持不变，只通过 copy_ 更新字段内容。这样 capture 时记录的地址仍然有效，replay 可以直接复用。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seq_lens_cpu 的作用是把 CPU planner 需要的 max、bucket 判断等留在 host mirror 上，避免对 MUSA tensor 做 item/max 后再同步到 CPU。</a:t>
            </a:r>
            <a:endParaRPr 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Graph Runner 的 copy ladder 是必要成本，也是排查入口。它把新 batch 的 input_ids、positions、seq_lens、metadata 写入 capture 时固定的 buffer。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_grouped_foreach_copy_ 按 dtype 分组，是为了减少 Python 循环和 launch 管理成本。但 copy 数量过多、padding 处理不完整、buffer 复用差，都会成为 decode 阶段的瓶颈。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检查 replay_prepare 时，要确认 capture bucket 选择正确、padding 区域被 fill_/zero_ 初始化、metadata 没有替换对象、Graph 内没有不支持 capture 的后端调用。</a:t>
            </a:r>
            <a:endParaRPr 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HC/MHC fallback 链条用 flatten、square、mean、rsqrt、F.linear、sum 表达语义，适合作为 reference 和适配初期验证。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生产路径不能只满足 reference 正确。decode 小 batch 下，这类碎 OP 链会产生多次 kernel launch 和多次 HBM 读写，容易成为非 GEMM 瓶颈。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MoE SwiGLU 还要关注 empty buffer、view、contiguous、clamp_、SwishGLU 的组合。empty 只分配不初始化，因此 fused kernel 或后续 OP 必须完整写入所有被读取区域。</a:t>
            </a:r>
            <a:endParaRPr 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vLLM 的核心是 PagedAttention metadata，而不是一个普通 attention API。CPU scheduler 把请求映射成 block_tables、slot_mapping、seq_lens_tensor 等结构。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block_tables 说明每条 sequence 使用哪些 KV block；slot_mapping 说明 token 写到 KV cache 的哪个槽位；这些 metadata 决定 attention backend 如何读写分页 KV cache。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MUSA 适配时要确认 decode 主路径命中 PagedAttention custom kernel。如果退化成 padding 加 SDPA fallback，功能可能正确，但 memory traffic 和延迟模型已经变了。</a:t>
            </a:r>
            <a:endParaRPr lang="zh-CN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Megatron 的 OP 视角和推理框架不同，它更强调训练通信和状态编排。TP、PP、DP、EP 会把普通 linear、matmul、topk、permute 变成带通信语义的链路。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TP linear 的关键不是单个 matmul，而是 all_gather、matmul、reduce_scatter 或 all_reduce 的组合，以及 wait 是否推迟到真正依赖的位置。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PP schedule 中 send/recv/wait 的位置决定 pipeline bubble 和显存峰值；MoE dispatcher 的 topk、permute、alltoall、combine 要满足 padding、dtype、layout 契约。</a:t>
            </a:r>
            <a:endParaRPr lang="zh-CN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Eager、compile、Graph 不是替代关系，而是根据 OP 特征选择执行模式。Eager 适合动态控制和 fallback reference；compile 适合稳定 OP 组合；Graph 适合固定 shape、固定地址、固定路径的 replay。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从 OP 角度看，dynamic shape、CPU sync、allocator、新 tensor 对象、后端不支持 capture 都会影响模式选择。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MUSA 适配时建议先保证 eager 语义正确，再看 compile 是否减少小 OP 链，最后确认 Graph capture/replay 是否稳定且后端命中正确。</a:t>
            </a:r>
            <a:endParaRPr lang="zh-CN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普通 Graph 约束最硬，适合整段 decode 路径固定时使用。Piecewise Graph 把 attention、MLP/MoE、logits 等稳定片段拆开，降低 capture 失败范围。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torch.compile 更偏向把稳定 PyTorch OP 组合交给编译器优化，但不等于自动命中高性能后端，也不等于解决 Graph 的地址和 shape 约束。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三者可以组合：先 compile 某个稳定 callable，再在固定 bucket 下 capture 这个 callable。动态 Python 控制、tokenizer、日志、I/O、item/cpu 都应留在 Graph 外。</a:t>
            </a:r>
            <a:endParaRPr 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MUSA 排查可以按五件事展开。第一看后端命中，确认是否走 MuDNN、TileLang、custom 或 MUSA native。第二看 layout 契约，重点检查 stride、contiguous 和隐式 copy。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第三看 dtype 支持，特别是 bf16、fp16、fp8 以及 scale layout。第四看同步边界，item、cpu、wait、synchronize 都可能让 host 等 device。第五看 Graph 安全，确认 capture 内没有 allocator、新对象和不支持的 kernel。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这页可以作为实际 code review 清单：每个热路径 OP 都至少过这五个问题。</a:t>
            </a:r>
            <a:endParaRPr 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证据来源要分层使用。单 OP 用例证明语义；源码链路证明 OP 的框架位置；Graph 最小用例证明固定 shape、固定地址、replay 路径。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后端命中和性能不能仅凭功能输出判断。需要 profiler、后端日志、kernel timeline、吞吐、延迟、显存和带宽数据来闭环。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分享时可以强调：当前材料更适合做适配设计、代码审查和问题定位框架；性能定量结论要结合现场 benchmark。</a:t>
            </a:r>
            <a:endParaRPr lang="zh-CN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MUSA 最小用例覆盖的是推理链路中的关键微场景，而不是孤立 API demo。buffer copy 对应 Graph replay 前输入更新；metadata copy 对应 DSV4 attention 说明书更新；graph replay 对应固定 bucket decode。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KV cache 用例展示 slot_mapping 如何映射 page_idx 和 page_offset；MoE routing 用 topk、softmax、combine 展示路由和专家输出合并；sampling 展示 device-side argmax 和小结果同步边界。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这些用例的价值在于把复杂源码压缩成可运行、可观察、可迁移的最小问题。</a:t>
            </a:r>
            <a:endParaRPr lang="zh-CN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常见根因可以归纳为五类。第一类是功能正确但后端错误，例如静默 CPU、Composite 或 PyTorch fallback。第二类是 shape 正确但 layout 错误，例如 stride、contiguous 或 FP8 scale layout 不满足契约。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第三类是 eager 能跑但 Graph 不稳定，通常来自动态 shape、allocator、替换 tensor 对象或 capture 不支持。第四类是同步 API 隐藏在热路径。第五类是通信 wait 过早导致 overlap 失效。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定位时不要直接猜大 kernel 性能，先确认这些基础边界是否成立。</a:t>
            </a:r>
            <a:endParaRPr lang="zh-CN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落地检查的顺序很重要。先看 OP 语义，确认 shape、dtype、device、stride、广播和 in-place 行为。再看后端路径，确认是否命中目标实现。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随后看框架位置：启动期、控制面、debug、fallback reference 和每 token 热路径的容忍度完全不同。再看执行模式：eager、compile、Graph、distributed overlap 对同一 OP 的约束不同。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最后看失败策略。不支持的 dtype、layout 或 shape 不应该静默走未知慢路径，至少要可观测、可回退、可关闭。</a:t>
            </a:r>
            <a:endParaRPr lang="zh-CN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总结页可以把全场收束到一句话：OP 是连接模型语义、框架调度、后端 kernel、图捕获和硬件运行时的最小工程单元。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“能跑”只说明功能链路打通；“适合热路径”需要 dispatch、layout、sync、dynamic shape、Graph 和后端质量共同成立。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SGLang、vLLM、Megatron 的共同模式是 PyTorch 保留语义和控制表达，真正的性能热路径交给专用后端、Graph replay 和通信库。</a:t>
            </a:r>
            <a:endParaRPr lang="zh-CN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>
                <a:latin typeface="Microsoft YaHei"/>
                <a:ea typeface="Microsoft YaHei"/>
              </a:rPr>
              <a:t>最后一页适合作为听众带走的排查口诀。能不能进 Graph，不看 API 名字，看地址、shape、CPU 同步和 capture 支持。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性能瓶颈不要只盯大 GEMM。decode 场景下 copy ladder、小 element-wise 链、metadata 更新和同步边界经常更早暴露问题。</a:t>
            </a:r>
            <a:endParaRPr lang="zh-CN" sz="1200"/>
          </a:p>
          <a:p>
            <a:r>
              <a:rPr lang="zh-CN" sz="1200">
                <a:latin typeface="Microsoft YaHei"/>
                <a:ea typeface="Microsoft YaHei"/>
              </a:rPr>
              <a:t>MUSA 适配要持续验证 JIT 机制、FP8 layout、capture 兼容性、编译方言差异和真实后端命中。OP 工程质量来自完整链路，而不是单点 API 替换。</a:t>
            </a:r>
            <a:endParaRPr 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00000" y="9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300" b="1">
                <a:solidFill>
                  <a:srgbClr val="0F172A"/>
                </a:solidFill>
                <a:latin typeface="Microsoft YaHei"/>
                <a:ea typeface="Microsoft YaHei"/>
              </a:rPr>
              <a:t>PyTorch OP、SGLang DeepSeek V4 与 MUSA 适配技术洞察</a:t>
            </a:r>
            <a:endParaRPr lang="zh-CN" sz="3300"/>
          </a:p>
        </p:txBody>
      </p:sp>
      <p:sp>
        <p:nvSpPr>
          <p:cNvPr id="3" name="Shape 3"/>
          <p:cNvSpPr/>
          <p:nvPr/>
        </p:nvSpPr>
        <p:spPr>
          <a:xfrm>
            <a:off x="760000" y="190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50">
                <a:solidFill>
                  <a:srgbClr val="0F766E"/>
                </a:solidFill>
                <a:latin typeface="Microsoft YaHei"/>
                <a:ea typeface="Microsoft YaHei"/>
              </a:rPr>
              <a:t>基于 OP 链路、框架源码与 MUSA 用例的工程分析</a:t>
            </a:r>
            <a:endParaRPr lang="zh-CN" sz="175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面向 AIInfra / 推理框架 / 后端适配工程师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关注点：语义正确、后端命中、Graph 稳定、同步边界、生产热路径</a:t>
            </a:r>
            <a:endParaRPr lang="zh-CN" sz="1700"/>
          </a:p>
        </p:txBody>
      </p:sp>
      <p:sp>
        <p:nvSpPr>
          <p:cNvPr id="70" name="Shape 70"/>
          <p:cNvSpPr/>
          <p:nvPr/>
        </p:nvSpPr>
        <p:spPr>
          <a:xfrm>
            <a:off x="700000" y="5800000"/>
            <a:ext cx="108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50">
                <a:solidFill>
                  <a:srgbClr val="64748B"/>
                </a:solidFill>
                <a:latin typeface="Microsoft YaHei"/>
                <a:ea typeface="Microsoft YaHei"/>
              </a:rPr>
              <a:t>基于 OP 链路、源码链路、MUSA 最小用例和跨后端排查经验</a:t>
            </a:r>
            <a:endParaRPr lang="zh-CN" sz="115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</a:t>
            </a:r>
            <a:endParaRPr lang="zh-CN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为什么从 OP 视角切入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PyTorch API 只是入口，真正决定质量的是 dispatch、kernel、layout、sync 和框架位置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同一个 OP 在 eager、compile、Graph、训练通信中风险完全不同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MUSA 适配不能停留在“能跑”，还要确认是否命中目标后端并适合热路径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这套分析把单 OP、框架源码、MUSA 用例和跨后端经验串成一条链路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2</a:t>
            </a:r>
            <a:endParaRPr lang="zh-CN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分享主线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1. PyTorch 常见 OP：GPU / CPU / Sync / Dynamic Shape / Graph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2. OP 在 SGLang、vLLM、Megatron 中如何进入真实链路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3. SGLang DeepSeek V4：metadata、Graph、HC/MHC、MoE 源码拆解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4. Eager / Compile / Graph 下同一 OP 的不同风险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5. MUSA 视角下的 OP 使用与排查方法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3</a:t>
            </a:r>
            <a:endParaRPr lang="zh-CN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证据范围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81 个可运行 MUSA 用例保留输入、完整代码和 stdout 输出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第 2-5 章提供 SGLang / vLLM / Megatron 源码链路和关键 OP 位置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第 6-7 章把源码 OP 链抽成 MUSA 最小场景，覆盖 Graph / compile / 推理流程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第 8 章是跨后端工程归纳，用于形成可复用排查清单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性能结论仍需要 profiler、kernel timeline、吞吐/延迟数据继续补充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4</a:t>
            </a:r>
            <a:endParaRPr lang="zh-CN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一条 OP 从 API 到热路径的链路</a:t>
            </a:r>
            <a:endParaRPr lang="zh-CN" sz="3100"/>
          </a:p>
        </p:txBody>
      </p:sp>
      <p:sp>
        <p:nvSpPr>
          <p:cNvPr id="30" name="Shape 30"/>
          <p:cNvSpPr/>
          <p:nvPr/>
        </p:nvSpPr>
        <p:spPr>
          <a:xfrm>
            <a:off x="1400000" y="1350000"/>
            <a:ext cx="9400000" cy="43000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PyTorch API / Tensor OP</a:t>
            </a:r>
            <a:endParaRPr lang="zh-CN" sz="1500"/>
          </a:p>
        </p:txBody>
      </p:sp>
      <p:sp>
        <p:nvSpPr>
          <p:cNvPr id="31" name="Shape 31"/>
          <p:cNvSpPr/>
          <p:nvPr/>
        </p:nvSpPr>
        <p:spPr>
          <a:xfrm>
            <a:off x="5850000" y="178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32" name="Shape 32"/>
          <p:cNvSpPr/>
          <p:nvPr/>
        </p:nvSpPr>
        <p:spPr>
          <a:xfrm>
            <a:off x="1400000" y="2040000"/>
            <a:ext cx="9400000" cy="430000"/>
          </a:xfrm>
          <a:prstGeom prst="roundRect">
            <a:avLst/>
          </a:prstGeom>
          <a:solidFill>
            <a:srgbClr val="ECFDF5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Dispatcher / DispatchKey</a:t>
            </a:r>
            <a:endParaRPr lang="zh-CN" sz="1500"/>
          </a:p>
        </p:txBody>
      </p:sp>
      <p:sp>
        <p:nvSpPr>
          <p:cNvPr id="33" name="Shape 33"/>
          <p:cNvSpPr/>
          <p:nvPr/>
        </p:nvSpPr>
        <p:spPr>
          <a:xfrm>
            <a:off x="5850000" y="247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34" name="Shape 34"/>
          <p:cNvSpPr/>
          <p:nvPr/>
        </p:nvSpPr>
        <p:spPr>
          <a:xfrm>
            <a:off x="1400000" y="2730000"/>
            <a:ext cx="9400000" cy="43000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Backend kernel: CPU / CUDA / MUSA / Composite</a:t>
            </a:r>
            <a:endParaRPr lang="zh-CN" sz="1500"/>
          </a:p>
        </p:txBody>
      </p:sp>
      <p:sp>
        <p:nvSpPr>
          <p:cNvPr id="35" name="Shape 35"/>
          <p:cNvSpPr/>
          <p:nvPr/>
        </p:nvSpPr>
        <p:spPr>
          <a:xfrm>
            <a:off x="5850000" y="316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36" name="Shape 36"/>
          <p:cNvSpPr/>
          <p:nvPr/>
        </p:nvSpPr>
        <p:spPr>
          <a:xfrm>
            <a:off x="1400000" y="3420000"/>
            <a:ext cx="9400000" cy="430000"/>
          </a:xfrm>
          <a:prstGeom prst="roundRect">
            <a:avLst/>
          </a:prstGeom>
          <a:solidFill>
            <a:srgbClr val="ECFDF5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Framework usage: SGLang / vLLM / Megatron</a:t>
            </a:r>
            <a:endParaRPr lang="zh-CN" sz="1500"/>
          </a:p>
        </p:txBody>
      </p:sp>
      <p:sp>
        <p:nvSpPr>
          <p:cNvPr id="37" name="Shape 37"/>
          <p:cNvSpPr/>
          <p:nvPr/>
        </p:nvSpPr>
        <p:spPr>
          <a:xfrm>
            <a:off x="5850000" y="38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38" name="Shape 38"/>
          <p:cNvSpPr/>
          <p:nvPr/>
        </p:nvSpPr>
        <p:spPr>
          <a:xfrm>
            <a:off x="1400000" y="4110000"/>
            <a:ext cx="9400000" cy="43000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Hot path: attention / KV cache / MoE / sampling / communication</a:t>
            </a:r>
            <a:endParaRPr lang="zh-CN" sz="1500"/>
          </a:p>
        </p:txBody>
      </p:sp>
      <p:sp>
        <p:nvSpPr>
          <p:cNvPr id="39" name="Shape 39"/>
          <p:cNvSpPr/>
          <p:nvPr/>
        </p:nvSpPr>
        <p:spPr>
          <a:xfrm>
            <a:off x="5850000" y="454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40" name="Shape 40"/>
          <p:cNvSpPr/>
          <p:nvPr/>
        </p:nvSpPr>
        <p:spPr>
          <a:xfrm>
            <a:off x="1400000" y="4800000"/>
            <a:ext cx="9400000" cy="430000"/>
          </a:xfrm>
          <a:prstGeom prst="roundRect">
            <a:avLst/>
          </a:prstGeom>
          <a:solidFill>
            <a:srgbClr val="ECFDF5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MUSA checks: layout / graph-safe / no CPU sync / native kernel</a:t>
            </a:r>
            <a:endParaRPr lang="zh-CN" sz="1500"/>
          </a:p>
        </p:txBody>
      </p:sp>
      <p:sp>
        <p:nvSpPr>
          <p:cNvPr id="75" name="Shape 75"/>
          <p:cNvSpPr/>
          <p:nvPr/>
        </p:nvSpPr>
        <p:spPr>
          <a:xfrm>
            <a:off x="900000" y="5800000"/>
            <a:ext cx="10400000" cy="42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450">
                <a:solidFill>
                  <a:srgbClr val="1F2937"/>
                </a:solidFill>
                <a:latin typeface="Microsoft YaHei"/>
                <a:ea typeface="Microsoft YaHei"/>
              </a:rPr>
              <a:t>• 检查 OP 不能只看 API 名字，要沿着链路追到真实执行位置和后端实现</a:t>
            </a:r>
            <a:endParaRPr lang="zh-CN" sz="145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5</a:t>
            </a:r>
            <a:endParaRPr lang="zh-CN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PyTorch OP 分类框架</a:t>
            </a:r>
            <a:endParaRPr lang="zh-CN" sz="3100"/>
          </a:p>
        </p:txBody>
      </p:sp>
      <p:sp>
        <p:nvSpPr>
          <p:cNvPr id="40" name="Shape 40"/>
          <p:cNvSpPr/>
          <p:nvPr/>
        </p:nvSpPr>
        <p:spPr>
          <a:xfrm>
            <a:off x="650000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类别</a:t>
            </a:r>
            <a:endParaRPr lang="zh-CN" sz="1350"/>
          </a:p>
        </p:txBody>
      </p:sp>
      <p:sp>
        <p:nvSpPr>
          <p:cNvPr id="41" name="Shape 41"/>
          <p:cNvSpPr/>
          <p:nvPr/>
        </p:nvSpPr>
        <p:spPr>
          <a:xfrm>
            <a:off x="4266666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代表 OP</a:t>
            </a:r>
            <a:endParaRPr lang="zh-CN" sz="1350"/>
          </a:p>
        </p:txBody>
      </p:sp>
      <p:sp>
        <p:nvSpPr>
          <p:cNvPr id="42" name="Shape 42"/>
          <p:cNvSpPr/>
          <p:nvPr/>
        </p:nvSpPr>
        <p:spPr>
          <a:xfrm>
            <a:off x="7883332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主要风险</a:t>
            </a:r>
            <a:endParaRPr lang="zh-CN" sz="1350"/>
          </a:p>
        </p:txBody>
      </p:sp>
      <p:sp>
        <p:nvSpPr>
          <p:cNvPr id="43" name="Shape 43"/>
          <p:cNvSpPr/>
          <p:nvPr/>
        </p:nvSpPr>
        <p:spPr>
          <a:xfrm>
            <a:off x="650000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GPU OP</a:t>
            </a:r>
            <a:endParaRPr lang="zh-CN" sz="1350"/>
          </a:p>
        </p:txBody>
      </p:sp>
      <p:sp>
        <p:nvSpPr>
          <p:cNvPr id="44" name="Shape 44"/>
          <p:cNvSpPr/>
          <p:nvPr/>
        </p:nvSpPr>
        <p:spPr>
          <a:xfrm>
            <a:off x="4266666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empty, view, matmul, topk, softmax</a:t>
            </a:r>
            <a:endParaRPr lang="zh-CN" sz="1350"/>
          </a:p>
        </p:txBody>
      </p:sp>
      <p:sp>
        <p:nvSpPr>
          <p:cNvPr id="45" name="Shape 45"/>
          <p:cNvSpPr/>
          <p:nvPr/>
        </p:nvSpPr>
        <p:spPr>
          <a:xfrm>
            <a:off x="7883332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layout、fallback、小 OP 链</a:t>
            </a:r>
            <a:endParaRPr lang="zh-CN" sz="1350"/>
          </a:p>
        </p:txBody>
      </p:sp>
      <p:sp>
        <p:nvSpPr>
          <p:cNvPr id="46" name="Shape 46"/>
          <p:cNvSpPr/>
          <p:nvPr/>
        </p:nvSpPr>
        <p:spPr>
          <a:xfrm>
            <a:off x="650000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CPU OP</a:t>
            </a:r>
            <a:endParaRPr lang="zh-CN" sz="1350"/>
          </a:p>
        </p:txBody>
      </p:sp>
      <p:sp>
        <p:nvSpPr>
          <p:cNvPr id="47" name="Shape 47"/>
          <p:cNvSpPr/>
          <p:nvPr/>
        </p:nvSpPr>
        <p:spPr>
          <a:xfrm>
            <a:off x="4266666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dict/list, tokenizer, CPU tensor</a:t>
            </a:r>
            <a:endParaRPr lang="zh-CN" sz="1350"/>
          </a:p>
        </p:txBody>
      </p:sp>
      <p:sp>
        <p:nvSpPr>
          <p:cNvPr id="48" name="Shape 48"/>
          <p:cNvSpPr/>
          <p:nvPr/>
        </p:nvSpPr>
        <p:spPr>
          <a:xfrm>
            <a:off x="7883332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控制面侵入热路径</a:t>
            </a:r>
            <a:endParaRPr lang="zh-CN" sz="1350"/>
          </a:p>
        </p:txBody>
      </p:sp>
      <p:sp>
        <p:nvSpPr>
          <p:cNvPr id="49" name="Shape 49"/>
          <p:cNvSpPr/>
          <p:nvPr/>
        </p:nvSpPr>
        <p:spPr>
          <a:xfrm>
            <a:off x="650000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Sync OP</a:t>
            </a:r>
            <a:endParaRPr lang="zh-CN" sz="1350"/>
          </a:p>
        </p:txBody>
      </p:sp>
      <p:sp>
        <p:nvSpPr>
          <p:cNvPr id="50" name="Shape 50"/>
          <p:cNvSpPr/>
          <p:nvPr/>
        </p:nvSpPr>
        <p:spPr>
          <a:xfrm>
            <a:off x="4266666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item, cpu, synchronize, work.wait</a:t>
            </a:r>
            <a:endParaRPr lang="zh-CN" sz="1350"/>
          </a:p>
        </p:txBody>
      </p:sp>
      <p:sp>
        <p:nvSpPr>
          <p:cNvPr id="51" name="Shape 51"/>
          <p:cNvSpPr/>
          <p:nvPr/>
        </p:nvSpPr>
        <p:spPr>
          <a:xfrm>
            <a:off x="7883332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隐式同步、overlap 失效</a:t>
            </a:r>
            <a:endParaRPr lang="zh-CN" sz="1350"/>
          </a:p>
        </p:txBody>
      </p:sp>
      <p:sp>
        <p:nvSpPr>
          <p:cNvPr id="52" name="Shape 52"/>
          <p:cNvSpPr/>
          <p:nvPr/>
        </p:nvSpPr>
        <p:spPr>
          <a:xfrm>
            <a:off x="650000" y="359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Dynamic Shape</a:t>
            </a:r>
            <a:endParaRPr lang="zh-CN" sz="1350"/>
          </a:p>
        </p:txBody>
      </p:sp>
      <p:sp>
        <p:nvSpPr>
          <p:cNvPr id="53" name="Shape 53"/>
          <p:cNvSpPr/>
          <p:nvPr/>
        </p:nvSpPr>
        <p:spPr>
          <a:xfrm>
            <a:off x="4266666" y="359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nonzero, unique, masked_select</a:t>
            </a:r>
            <a:endParaRPr lang="zh-CN" sz="1350"/>
          </a:p>
        </p:txBody>
      </p:sp>
      <p:sp>
        <p:nvSpPr>
          <p:cNvPr id="54" name="Shape 54"/>
          <p:cNvSpPr/>
          <p:nvPr/>
        </p:nvSpPr>
        <p:spPr>
          <a:xfrm>
            <a:off x="7883332" y="359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shape 不稳定、Graph 失败</a:t>
            </a:r>
            <a:endParaRPr lang="zh-CN" sz="1350"/>
          </a:p>
        </p:txBody>
      </p:sp>
      <p:sp>
        <p:nvSpPr>
          <p:cNvPr id="55" name="Shape 55"/>
          <p:cNvSpPr/>
          <p:nvPr/>
        </p:nvSpPr>
        <p:spPr>
          <a:xfrm>
            <a:off x="650000" y="415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Graph OP</a:t>
            </a:r>
            <a:endParaRPr lang="zh-CN" sz="1350"/>
          </a:p>
        </p:txBody>
      </p:sp>
      <p:sp>
        <p:nvSpPr>
          <p:cNvPr id="56" name="Shape 56"/>
          <p:cNvSpPr/>
          <p:nvPr/>
        </p:nvSpPr>
        <p:spPr>
          <a:xfrm>
            <a:off x="4266666" y="415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copy_, fill_, zero_, graph.replay</a:t>
            </a:r>
            <a:endParaRPr lang="zh-CN" sz="1350"/>
          </a:p>
        </p:txBody>
      </p:sp>
      <p:sp>
        <p:nvSpPr>
          <p:cNvPr id="57" name="Shape 57"/>
          <p:cNvSpPr/>
          <p:nvPr/>
        </p:nvSpPr>
        <p:spPr>
          <a:xfrm>
            <a:off x="7883332" y="415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地址/shape/路径不固定</a:t>
            </a:r>
            <a:endParaRPr lang="zh-CN" sz="135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6</a:t>
            </a:r>
            <a:endParaRPr lang="zh-CN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GPU OP：不是“在 GPU 上跑”就算完成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创建初始化：empty/new_empty 用于固定 buffer，但 empty 后必须完整写入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Shape/Layout：view/reshape/contiguous 决定 custom kernel 能否正确读数据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数学激活：silu/softmax/rsqrt 可表达语义，生产路径通常需要融合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线性代数/路由：linear/matmul/topk 的关键是 dtype、layout 和后端 kernel 命中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dtype/device：to/float/bfloat16 常在边界处集中处理，避免隐式拷贝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7</a:t>
            </a:r>
            <a:endParaRPr lang="zh-CN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CPU OP 与 Sync OP：推理服务的时序边界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CPU OP 应负责 request queue、scheduler、KV block、tokenizer、协议输出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device 热路径只消费 CPU 规划后的固定 tensor metadata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.item/.tolist/.cpu 是隐式同步，适合小结果边界，不适合每 token decode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stream/event 用于局部依赖；全设备 synchronize 应只出现在 benchmark/debug 边界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通信 wait 的时机决定计算-通信 overlap 是否成立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8</a:t>
            </a:r>
            <a:endParaRPr lang="zh-CN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Dynamic Shape 与 Graph 的核心冲突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Dynamic Shape OP 的输出长度依赖数据值，Graph 需要固定 shape 和固定地址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nonzero/unique/masked_select 适合调试和 CPU planner，不适合 replay 热路径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生产推理通常把动态性收敛到 bucket、padding、mask、page table、top-k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Graph replay 前通过 copy_/fill_/zero_ 更新固定 buffer，replay 内保持路径稳定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如果 capture 时是低效 fallback，Graph 只会把低效路径固定下来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9</a:t>
            </a:r>
            <a:endParaRPr lang="zh-CN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SGLang：四层 OP 分工</a:t>
            </a:r>
            <a:endParaRPr lang="zh-CN" sz="3100"/>
          </a:p>
        </p:txBody>
      </p:sp>
      <p:sp>
        <p:nvSpPr>
          <p:cNvPr id="40" name="Shape 40"/>
          <p:cNvSpPr/>
          <p:nvPr/>
        </p:nvSpPr>
        <p:spPr>
          <a:xfrm>
            <a:off x="650000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层次</a:t>
            </a:r>
            <a:endParaRPr lang="zh-CN" sz="1350"/>
          </a:p>
        </p:txBody>
      </p:sp>
      <p:sp>
        <p:nvSpPr>
          <p:cNvPr id="41" name="Shape 41"/>
          <p:cNvSpPr/>
          <p:nvPr/>
        </p:nvSpPr>
        <p:spPr>
          <a:xfrm>
            <a:off x="4266666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关键 OP / 对象</a:t>
            </a:r>
            <a:endParaRPr lang="zh-CN" sz="1350"/>
          </a:p>
        </p:txBody>
      </p:sp>
      <p:sp>
        <p:nvSpPr>
          <p:cNvPr id="42" name="Shape 42"/>
          <p:cNvSpPr/>
          <p:nvPr/>
        </p:nvSpPr>
        <p:spPr>
          <a:xfrm>
            <a:off x="7883332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作用</a:t>
            </a:r>
            <a:endParaRPr lang="zh-CN" sz="1350"/>
          </a:p>
        </p:txBody>
      </p:sp>
      <p:sp>
        <p:nvSpPr>
          <p:cNvPr id="43" name="Shape 43"/>
          <p:cNvSpPr/>
          <p:nvPr/>
        </p:nvSpPr>
        <p:spPr>
          <a:xfrm>
            <a:off x="650000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模型语义层</a:t>
            </a:r>
            <a:endParaRPr lang="zh-CN" sz="1350"/>
          </a:p>
        </p:txBody>
      </p:sp>
      <p:sp>
        <p:nvSpPr>
          <p:cNvPr id="44" name="Shape 44"/>
          <p:cNvSpPr/>
          <p:nvPr/>
        </p:nvSpPr>
        <p:spPr>
          <a:xfrm>
            <a:off x="4266666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linear, silu, topk, sum</a:t>
            </a:r>
            <a:endParaRPr lang="zh-CN" sz="1350"/>
          </a:p>
        </p:txBody>
      </p:sp>
      <p:sp>
        <p:nvSpPr>
          <p:cNvPr id="45" name="Shape 45"/>
          <p:cNvSpPr/>
          <p:nvPr/>
        </p:nvSpPr>
        <p:spPr>
          <a:xfrm>
            <a:off x="7883332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表达 forward / fallback reference</a:t>
            </a:r>
            <a:endParaRPr lang="zh-CN" sz="1350"/>
          </a:p>
        </p:txBody>
      </p:sp>
      <p:sp>
        <p:nvSpPr>
          <p:cNvPr id="46" name="Shape 46"/>
          <p:cNvSpPr/>
          <p:nvPr/>
        </p:nvSpPr>
        <p:spPr>
          <a:xfrm>
            <a:off x="650000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metadata 层</a:t>
            </a:r>
            <a:endParaRPr lang="zh-CN" sz="1350"/>
          </a:p>
        </p:txBody>
      </p:sp>
      <p:sp>
        <p:nvSpPr>
          <p:cNvPr id="47" name="Shape 47"/>
          <p:cNvSpPr/>
          <p:nvPr/>
        </p:nvSpPr>
        <p:spPr>
          <a:xfrm>
            <a:off x="4266666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seq_lens, page_table, out_cache_loc</a:t>
            </a:r>
            <a:endParaRPr lang="zh-CN" sz="1350"/>
          </a:p>
        </p:txBody>
      </p:sp>
      <p:sp>
        <p:nvSpPr>
          <p:cNvPr id="48" name="Shape 48"/>
          <p:cNvSpPr/>
          <p:nvPr/>
        </p:nvSpPr>
        <p:spPr>
          <a:xfrm>
            <a:off x="7883332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把动态请求压成 tensor 说明书</a:t>
            </a:r>
            <a:endParaRPr lang="zh-CN" sz="1350"/>
          </a:p>
        </p:txBody>
      </p:sp>
      <p:sp>
        <p:nvSpPr>
          <p:cNvPr id="49" name="Shape 49"/>
          <p:cNvSpPr/>
          <p:nvPr/>
        </p:nvSpPr>
        <p:spPr>
          <a:xfrm>
            <a:off x="650000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Graph replay 层</a:t>
            </a:r>
            <a:endParaRPr lang="zh-CN" sz="1350"/>
          </a:p>
        </p:txBody>
      </p:sp>
      <p:sp>
        <p:nvSpPr>
          <p:cNvPr id="50" name="Shape 50"/>
          <p:cNvSpPr/>
          <p:nvPr/>
        </p:nvSpPr>
        <p:spPr>
          <a:xfrm>
            <a:off x="4266666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copy_, foreach_copy_, fill_, zero_</a:t>
            </a:r>
            <a:endParaRPr lang="zh-CN" sz="1350"/>
          </a:p>
        </p:txBody>
      </p:sp>
      <p:sp>
        <p:nvSpPr>
          <p:cNvPr id="51" name="Shape 51"/>
          <p:cNvSpPr/>
          <p:nvPr/>
        </p:nvSpPr>
        <p:spPr>
          <a:xfrm>
            <a:off x="7883332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更新固定 buffer 内容</a:t>
            </a:r>
            <a:endParaRPr lang="zh-CN" sz="1350"/>
          </a:p>
        </p:txBody>
      </p:sp>
      <p:sp>
        <p:nvSpPr>
          <p:cNvPr id="52" name="Shape 52"/>
          <p:cNvSpPr/>
          <p:nvPr/>
        </p:nvSpPr>
        <p:spPr>
          <a:xfrm>
            <a:off x="650000" y="359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fused backend 层</a:t>
            </a:r>
            <a:endParaRPr lang="zh-CN" sz="1350"/>
          </a:p>
        </p:txBody>
      </p:sp>
      <p:sp>
        <p:nvSpPr>
          <p:cNvPr id="53" name="Shape 53"/>
          <p:cNvSpPr/>
          <p:nvPr/>
        </p:nvSpPr>
        <p:spPr>
          <a:xfrm>
            <a:off x="4266666" y="359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FlashMLA, DeepGEMM, TileLang, MUSA native</a:t>
            </a:r>
            <a:endParaRPr lang="zh-CN" sz="1350"/>
          </a:p>
        </p:txBody>
      </p:sp>
      <p:sp>
        <p:nvSpPr>
          <p:cNvPr id="54" name="Shape 54"/>
          <p:cNvSpPr/>
          <p:nvPr/>
        </p:nvSpPr>
        <p:spPr>
          <a:xfrm>
            <a:off x="7883332" y="359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承接生产热路径性能</a:t>
            </a:r>
            <a:endParaRPr lang="zh-CN" sz="135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10</a:t>
            </a:r>
            <a:endParaRPr lang="zh-CN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SGLang DeepSeek V4 调用流程</a:t>
            </a:r>
            <a:endParaRPr lang="zh-CN" sz="3100"/>
          </a:p>
        </p:txBody>
      </p:sp>
      <p:sp>
        <p:nvSpPr>
          <p:cNvPr id="30" name="Shape 30"/>
          <p:cNvSpPr/>
          <p:nvPr/>
        </p:nvSpPr>
        <p:spPr>
          <a:xfrm>
            <a:off x="1400000" y="1350000"/>
            <a:ext cx="9400000" cy="43000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CPU scheduler 选择 batch / bucket / KV slot</a:t>
            </a:r>
            <a:endParaRPr lang="zh-CN" sz="1500"/>
          </a:p>
        </p:txBody>
      </p:sp>
      <p:sp>
        <p:nvSpPr>
          <p:cNvPr id="31" name="Shape 31"/>
          <p:cNvSpPr/>
          <p:nvPr/>
        </p:nvSpPr>
        <p:spPr>
          <a:xfrm>
            <a:off x="5850000" y="178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32" name="Shape 32"/>
          <p:cNvSpPr/>
          <p:nvPr/>
        </p:nvSpPr>
        <p:spPr>
          <a:xfrm>
            <a:off x="1400000" y="2040000"/>
            <a:ext cx="9400000" cy="430000"/>
          </a:xfrm>
          <a:prstGeom prst="roundRect">
            <a:avLst/>
          </a:prstGeom>
          <a:solidFill>
            <a:srgbClr val="ECFDF5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构造 CPU mirror 与 device metadata</a:t>
            </a:r>
            <a:endParaRPr lang="zh-CN" sz="1500"/>
          </a:p>
        </p:txBody>
      </p:sp>
      <p:sp>
        <p:nvSpPr>
          <p:cNvPr id="33" name="Shape 33"/>
          <p:cNvSpPr/>
          <p:nvPr/>
        </p:nvSpPr>
        <p:spPr>
          <a:xfrm>
            <a:off x="5850000" y="247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34" name="Shape 34"/>
          <p:cNvSpPr/>
          <p:nvPr/>
        </p:nvSpPr>
        <p:spPr>
          <a:xfrm>
            <a:off x="1400000" y="2730000"/>
            <a:ext cx="9400000" cy="43000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Attention prepare 整理 Q/KV layout</a:t>
            </a:r>
            <a:endParaRPr lang="zh-CN" sz="1500"/>
          </a:p>
        </p:txBody>
      </p:sp>
      <p:sp>
        <p:nvSpPr>
          <p:cNvPr id="35" name="Shape 35"/>
          <p:cNvSpPr/>
          <p:nvPr/>
        </p:nvSpPr>
        <p:spPr>
          <a:xfrm>
            <a:off x="5850000" y="316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36" name="Shape 36"/>
          <p:cNvSpPr/>
          <p:nvPr/>
        </p:nvSpPr>
        <p:spPr>
          <a:xfrm>
            <a:off x="1400000" y="3420000"/>
            <a:ext cx="9400000" cy="430000"/>
          </a:xfrm>
          <a:prstGeom prst="roundRect">
            <a:avLst/>
          </a:prstGeom>
          <a:solidFill>
            <a:srgbClr val="ECFDF5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DSV4 metadata copy 到固定对象</a:t>
            </a:r>
            <a:endParaRPr lang="zh-CN" sz="1500"/>
          </a:p>
        </p:txBody>
      </p:sp>
      <p:sp>
        <p:nvSpPr>
          <p:cNvPr id="37" name="Shape 37"/>
          <p:cNvSpPr/>
          <p:nvPr/>
        </p:nvSpPr>
        <p:spPr>
          <a:xfrm>
            <a:off x="5850000" y="38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38" name="Shape 38"/>
          <p:cNvSpPr/>
          <p:nvPr/>
        </p:nvSpPr>
        <p:spPr>
          <a:xfrm>
            <a:off x="1400000" y="4110000"/>
            <a:ext cx="9400000" cy="43000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Graph runner replay_prepare 更新 fixed buffers</a:t>
            </a:r>
            <a:endParaRPr lang="zh-CN" sz="1500"/>
          </a:p>
        </p:txBody>
      </p:sp>
      <p:sp>
        <p:nvSpPr>
          <p:cNvPr id="39" name="Shape 39"/>
          <p:cNvSpPr/>
          <p:nvPr/>
        </p:nvSpPr>
        <p:spPr>
          <a:xfrm>
            <a:off x="5850000" y="454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40" name="Shape 40"/>
          <p:cNvSpPr/>
          <p:nvPr/>
        </p:nvSpPr>
        <p:spPr>
          <a:xfrm>
            <a:off x="1400000" y="4800000"/>
            <a:ext cx="9400000" cy="430000"/>
          </a:xfrm>
          <a:prstGeom prst="roundRect">
            <a:avLst/>
          </a:prstGeom>
          <a:solidFill>
            <a:srgbClr val="ECFDF5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graph.replay 执行 attention / HC / MoE / logits</a:t>
            </a:r>
            <a:endParaRPr lang="zh-CN" sz="1500"/>
          </a:p>
        </p:txBody>
      </p:sp>
      <p:sp>
        <p:nvSpPr>
          <p:cNvPr id="41" name="Shape 41"/>
          <p:cNvSpPr/>
          <p:nvPr/>
        </p:nvSpPr>
        <p:spPr>
          <a:xfrm>
            <a:off x="5850000" y="523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0F766E"/>
                </a:solidFill>
                <a:latin typeface="Microsoft YaHei"/>
                <a:ea typeface="Microsoft YaHei"/>
              </a:rPr>
              <a:t>↓</a:t>
            </a:r>
            <a:endParaRPr lang="zh-CN" sz="1800"/>
          </a:p>
        </p:txBody>
      </p:sp>
      <p:sp>
        <p:nvSpPr>
          <p:cNvPr id="42" name="Shape 42"/>
          <p:cNvSpPr/>
          <p:nvPr/>
        </p:nvSpPr>
        <p:spPr>
          <a:xfrm>
            <a:off x="1400000" y="5490000"/>
            <a:ext cx="9400000" cy="430000"/>
          </a:xfrm>
          <a:prstGeom prst="roundRect">
            <a:avLst/>
          </a:prstGeom>
          <a:solidFill>
            <a:srgbClr val="E0F2FE"/>
          </a:solidFill>
          <a:ln>
            <a:solidFill>
              <a:srgbClr val="38BDF8"/>
            </a:solidFill>
          </a:ln>
        </p:spPr>
        <p:txBody>
          <a:bodyPr wrap="square"/>
          <a:lstStyle/>
          <a:p>
            <a:r>
              <a:rPr lang="zh-CN" sz="1500">
                <a:solidFill>
                  <a:srgbClr val="0F172A"/>
                </a:solidFill>
                <a:latin typeface="Microsoft YaHei"/>
                <a:ea typeface="Microsoft YaHei"/>
              </a:rPr>
              <a:t>Sampling 只同步小结果</a:t>
            </a:r>
            <a:endParaRPr lang="zh-CN" sz="1500"/>
          </a:p>
        </p:txBody>
      </p:sp>
      <p:sp>
        <p:nvSpPr>
          <p:cNvPr id="75" name="Shape 75"/>
          <p:cNvSpPr/>
          <p:nvPr/>
        </p:nvSpPr>
        <p:spPr>
          <a:xfrm>
            <a:off x="900000" y="5800000"/>
            <a:ext cx="10400000" cy="42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450">
                <a:solidFill>
                  <a:srgbClr val="1F2937"/>
                </a:solidFill>
                <a:latin typeface="Microsoft YaHei"/>
                <a:ea typeface="Microsoft YaHei"/>
              </a:rPr>
              <a:t>• 核心模式：动态决策在 Graph 外，Graph 内只消费固定 shape、固定地址、固定路径的 tensor</a:t>
            </a:r>
            <a:endParaRPr lang="zh-CN" sz="145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11</a:t>
            </a:r>
            <a:endParaRPr lang="zh-CN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DSV4 Metadata：动态请求如何变成固定输入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DSV4 metadata 是 attention backend 的“说明书”：seq lens、positions、page table、out loc 等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Graph replay 时 metadata 对象地址保持不变，只用 copy_ 更新 tensor 字段内容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seq_lens_cpu 负责 max/item 等 CPU 决策，避免对 MUSA tensor 做隐式同步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padding 到 capture bucket，保证 replay 中 shape 固定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风险点：dtype 不匹配、padding 未初始化、replay 内替换 tensor 对象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12</a:t>
            </a:r>
            <a:endParaRPr lang="zh-CN" sz="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Graph Runner：copy ladder 是必要入口，也是性能风险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_grouped_foreach_copy_ 按 dtype 分组，减少 Python 循环和 launch 管理成本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populate_from_forward_batch 先 fill_/zero_ padding，再 copy 真实 batch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replay_prepare 选择 capture bucket，更新 input_ids、positions、seq_lens、metadata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graph.replay 只复用 capture 路径，不负责修复低效 OP 链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排查重点：copy 数量、buffer 复用、padding 完整性、capture 内后端 kernel 支持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13</a:t>
            </a:r>
            <a:endParaRPr lang="zh-CN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HC/MHC 与 MoE SwiGLU：fallback 语义不等于生产路径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HC/MHC fallback: flatten -&gt; square -&gt; mean -&gt; rsqrt -&gt; F.linear -&gt; sum 清晰表达语义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decode 小 batch 下碎 OP 链会带来多次 launch 和 HBM 读写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MUSA 生产路径应优先 TileLang / MUSA native / fused kernel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MoE SwiGLU 重点看 empty buffer 是否完整写入、view 是否满足 contiguous 契约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SwishGLU / clamp / grouped GEMM 要和 CUDA fused path 数值与 layout 对齐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14</a:t>
            </a:r>
            <a:endParaRPr lang="zh-CN" sz="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vLLM 对比：PagedAttention metadata 是中心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vLLM 的关键不是普通 attention API，而是 CPU scheduler 生成的 PagedAttention metadata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block_tables 记录 sequence 使用哪些 KV block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slot_mapping 记录 token 写入/读取 KV cache 的具体位置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seq_lens_tensor 进入 attention backend，Graph replay 需要固定 dtype/shape/layout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MUSA 适配要确认 decode 主路径命中 PagedAttention custom kernel，而不是 padding + SDPA fallback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15</a:t>
            </a:r>
            <a:endParaRPr lang="zh-CN" sz="9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Megatron 对比：训练 OP 的核心是通信与状态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Megatron 的 OP 不只表达数学计算，还参与 TP/PP/DP/EP 并行编排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TP linear: all_gather -&gt; matmul -&gt; reduce_scatter/all_reduce，关键是 overlap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PP schedule: send/recv/wait 时机决定 pipeline bubble 和显存峰值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MoE dispatcher: topk/view/permute/alltoall/combine 必须满足 padding、dtype、layout 契约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Optimizer offload 引入 D2H/H2D、pin memory、CPU optimizer kernel 和参数回写边界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16</a:t>
            </a:r>
            <a:endParaRPr lang="zh-CN" sz="9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Eager / Compile / Graph：按 OP 特征选择</a:t>
            </a:r>
            <a:endParaRPr lang="zh-CN" sz="3100"/>
          </a:p>
        </p:txBody>
      </p:sp>
      <p:sp>
        <p:nvSpPr>
          <p:cNvPr id="40" name="Shape 40"/>
          <p:cNvSpPr/>
          <p:nvPr/>
        </p:nvSpPr>
        <p:spPr>
          <a:xfrm>
            <a:off x="650000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执行模式</a:t>
            </a:r>
            <a:endParaRPr lang="zh-CN" sz="1350"/>
          </a:p>
        </p:txBody>
      </p:sp>
      <p:sp>
        <p:nvSpPr>
          <p:cNvPr id="41" name="Shape 41"/>
          <p:cNvSpPr/>
          <p:nvPr/>
        </p:nvSpPr>
        <p:spPr>
          <a:xfrm>
            <a:off x="4266666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适合放什么</a:t>
            </a:r>
            <a:endParaRPr lang="zh-CN" sz="1350"/>
          </a:p>
        </p:txBody>
      </p:sp>
      <p:sp>
        <p:nvSpPr>
          <p:cNvPr id="42" name="Shape 42"/>
          <p:cNvSpPr/>
          <p:nvPr/>
        </p:nvSpPr>
        <p:spPr>
          <a:xfrm>
            <a:off x="7883332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主要风险</a:t>
            </a:r>
            <a:endParaRPr lang="zh-CN" sz="1350"/>
          </a:p>
        </p:txBody>
      </p:sp>
      <p:sp>
        <p:nvSpPr>
          <p:cNvPr id="43" name="Shape 43"/>
          <p:cNvSpPr/>
          <p:nvPr/>
        </p:nvSpPr>
        <p:spPr>
          <a:xfrm>
            <a:off x="650000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Eager</a:t>
            </a:r>
            <a:endParaRPr lang="zh-CN" sz="1350"/>
          </a:p>
        </p:txBody>
      </p:sp>
      <p:sp>
        <p:nvSpPr>
          <p:cNvPr id="44" name="Shape 44"/>
          <p:cNvSpPr/>
          <p:nvPr/>
        </p:nvSpPr>
        <p:spPr>
          <a:xfrm>
            <a:off x="4266666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动态控制、scheduler、fallback reference</a:t>
            </a:r>
            <a:endParaRPr lang="zh-CN" sz="1350"/>
          </a:p>
        </p:txBody>
      </p:sp>
      <p:sp>
        <p:nvSpPr>
          <p:cNvPr id="45" name="Shape 45"/>
          <p:cNvSpPr/>
          <p:nvPr/>
        </p:nvSpPr>
        <p:spPr>
          <a:xfrm>
            <a:off x="7883332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小 OP 链、Python 调度、隐式同步</a:t>
            </a:r>
            <a:endParaRPr lang="zh-CN" sz="1350"/>
          </a:p>
        </p:txBody>
      </p:sp>
      <p:sp>
        <p:nvSpPr>
          <p:cNvPr id="46" name="Shape 46"/>
          <p:cNvSpPr/>
          <p:nvPr/>
        </p:nvSpPr>
        <p:spPr>
          <a:xfrm>
            <a:off x="650000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torch.compile</a:t>
            </a:r>
            <a:endParaRPr lang="zh-CN" sz="1350"/>
          </a:p>
        </p:txBody>
      </p:sp>
      <p:sp>
        <p:nvSpPr>
          <p:cNvPr id="47" name="Shape 47"/>
          <p:cNvSpPr/>
          <p:nvPr/>
        </p:nvSpPr>
        <p:spPr>
          <a:xfrm>
            <a:off x="4266666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稳定 OP 组合、局部图优化</a:t>
            </a:r>
            <a:endParaRPr lang="zh-CN" sz="1350"/>
          </a:p>
        </p:txBody>
      </p:sp>
      <p:sp>
        <p:nvSpPr>
          <p:cNvPr id="48" name="Shape 48"/>
          <p:cNvSpPr/>
          <p:nvPr/>
        </p:nvSpPr>
        <p:spPr>
          <a:xfrm>
            <a:off x="7883332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dynamic shape guard、graph break、模板 fallback</a:t>
            </a:r>
            <a:endParaRPr lang="zh-CN" sz="1350"/>
          </a:p>
        </p:txBody>
      </p:sp>
      <p:sp>
        <p:nvSpPr>
          <p:cNvPr id="49" name="Shape 49"/>
          <p:cNvSpPr/>
          <p:nvPr/>
        </p:nvSpPr>
        <p:spPr>
          <a:xfrm>
            <a:off x="650000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Graph</a:t>
            </a:r>
            <a:endParaRPr lang="zh-CN" sz="1350"/>
          </a:p>
        </p:txBody>
      </p:sp>
      <p:sp>
        <p:nvSpPr>
          <p:cNvPr id="50" name="Shape 50"/>
          <p:cNvSpPr/>
          <p:nvPr/>
        </p:nvSpPr>
        <p:spPr>
          <a:xfrm>
            <a:off x="4266666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固定 shape / 地址 / 路径的 decode replay</a:t>
            </a:r>
            <a:endParaRPr lang="zh-CN" sz="1350"/>
          </a:p>
        </p:txBody>
      </p:sp>
      <p:sp>
        <p:nvSpPr>
          <p:cNvPr id="51" name="Shape 51"/>
          <p:cNvSpPr/>
          <p:nvPr/>
        </p:nvSpPr>
        <p:spPr>
          <a:xfrm>
            <a:off x="7883332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capture 不支持、allocator、新 tensor、低效路径被固定</a:t>
            </a:r>
            <a:endParaRPr lang="zh-CN" sz="135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17</a:t>
            </a:r>
            <a:endParaRPr lang="zh-CN" sz="9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普通 Graph、Piecewise Graph 与 torch.compile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普通 Graph：整段固定路径 capture，收益大，约束最硬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Piecewise Graph：把 attention、MLP/MoE、logits 等稳定片段分开 capture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torch.compile：适合先优化稳定 PyTorch OP 组合，不等于一定命中高性能后端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三者可组合：compile 生成 callable，Graph 在固定 bucket 下 capture callable 执行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动态 Python 控制、tokenizer、I/O、日志、.item/.cpu 应留在 Graph 外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18</a:t>
            </a:r>
            <a:endParaRPr lang="zh-CN" sz="9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MUSA 视角下的 OP 排查五件事</a:t>
            </a:r>
            <a:endParaRPr lang="zh-CN" sz="3100"/>
          </a:p>
        </p:txBody>
      </p:sp>
      <p:sp>
        <p:nvSpPr>
          <p:cNvPr id="40" name="Shape 40"/>
          <p:cNvSpPr/>
          <p:nvPr/>
        </p:nvSpPr>
        <p:spPr>
          <a:xfrm>
            <a:off x="650000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排查项</a:t>
            </a:r>
            <a:endParaRPr lang="zh-CN" sz="1350"/>
          </a:p>
        </p:txBody>
      </p:sp>
      <p:sp>
        <p:nvSpPr>
          <p:cNvPr id="41" name="Shape 41"/>
          <p:cNvSpPr/>
          <p:nvPr/>
        </p:nvSpPr>
        <p:spPr>
          <a:xfrm>
            <a:off x="4266666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代表 OP</a:t>
            </a:r>
            <a:endParaRPr lang="zh-CN" sz="1350"/>
          </a:p>
        </p:txBody>
      </p:sp>
      <p:sp>
        <p:nvSpPr>
          <p:cNvPr id="42" name="Shape 42"/>
          <p:cNvSpPr/>
          <p:nvPr/>
        </p:nvSpPr>
        <p:spPr>
          <a:xfrm>
            <a:off x="7883332" y="1350000"/>
            <a:ext cx="3616666" cy="560000"/>
          </a:xfrm>
          <a:prstGeom prst="rect">
            <a:avLst/>
          </a:prstGeom>
          <a:solidFill>
            <a:srgbClr val="0F766E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看什么</a:t>
            </a:r>
            <a:endParaRPr lang="zh-CN" sz="1350"/>
          </a:p>
        </p:txBody>
      </p:sp>
      <p:sp>
        <p:nvSpPr>
          <p:cNvPr id="43" name="Shape 43"/>
          <p:cNvSpPr/>
          <p:nvPr/>
        </p:nvSpPr>
        <p:spPr>
          <a:xfrm>
            <a:off x="650000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后端命中</a:t>
            </a:r>
            <a:endParaRPr lang="zh-CN" sz="1350"/>
          </a:p>
        </p:txBody>
      </p:sp>
      <p:sp>
        <p:nvSpPr>
          <p:cNvPr id="44" name="Shape 44"/>
          <p:cNvSpPr/>
          <p:nvPr/>
        </p:nvSpPr>
        <p:spPr>
          <a:xfrm>
            <a:off x="4266666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matmul, softmax, SwishGLU</a:t>
            </a:r>
            <a:endParaRPr lang="zh-CN" sz="1350"/>
          </a:p>
        </p:txBody>
      </p:sp>
      <p:sp>
        <p:nvSpPr>
          <p:cNvPr id="45" name="Shape 45"/>
          <p:cNvSpPr/>
          <p:nvPr/>
        </p:nvSpPr>
        <p:spPr>
          <a:xfrm>
            <a:off x="7883332" y="191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MuDNN / TileLang / custom / fallback</a:t>
            </a:r>
            <a:endParaRPr lang="zh-CN" sz="1350"/>
          </a:p>
        </p:txBody>
      </p:sp>
      <p:sp>
        <p:nvSpPr>
          <p:cNvPr id="46" name="Shape 46"/>
          <p:cNvSpPr/>
          <p:nvPr/>
        </p:nvSpPr>
        <p:spPr>
          <a:xfrm>
            <a:off x="650000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layout 契约</a:t>
            </a:r>
            <a:endParaRPr lang="zh-CN" sz="1350"/>
          </a:p>
        </p:txBody>
      </p:sp>
      <p:sp>
        <p:nvSpPr>
          <p:cNvPr id="47" name="Shape 47"/>
          <p:cNvSpPr/>
          <p:nvPr/>
        </p:nvSpPr>
        <p:spPr>
          <a:xfrm>
            <a:off x="4266666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view, reshape, contiguous</a:t>
            </a:r>
            <a:endParaRPr lang="zh-CN" sz="1350"/>
          </a:p>
        </p:txBody>
      </p:sp>
      <p:sp>
        <p:nvSpPr>
          <p:cNvPr id="48" name="Shape 48"/>
          <p:cNvSpPr/>
          <p:nvPr/>
        </p:nvSpPr>
        <p:spPr>
          <a:xfrm>
            <a:off x="7883332" y="247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stride、contiguous、隐式 copy</a:t>
            </a:r>
            <a:endParaRPr lang="zh-CN" sz="1350"/>
          </a:p>
        </p:txBody>
      </p:sp>
      <p:sp>
        <p:nvSpPr>
          <p:cNvPr id="49" name="Shape 49"/>
          <p:cNvSpPr/>
          <p:nvPr/>
        </p:nvSpPr>
        <p:spPr>
          <a:xfrm>
            <a:off x="650000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dtype 支持</a:t>
            </a:r>
            <a:endParaRPr lang="zh-CN" sz="1350"/>
          </a:p>
        </p:txBody>
      </p:sp>
      <p:sp>
        <p:nvSpPr>
          <p:cNvPr id="50" name="Shape 50"/>
          <p:cNvSpPr/>
          <p:nvPr/>
        </p:nvSpPr>
        <p:spPr>
          <a:xfrm>
            <a:off x="4266666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to(fp16/bf16/fp8)</a:t>
            </a:r>
            <a:endParaRPr lang="zh-CN" sz="1350"/>
          </a:p>
        </p:txBody>
      </p:sp>
      <p:sp>
        <p:nvSpPr>
          <p:cNvPr id="51" name="Shape 51"/>
          <p:cNvSpPr/>
          <p:nvPr/>
        </p:nvSpPr>
        <p:spPr>
          <a:xfrm>
            <a:off x="7883332" y="303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scale layout、量化 kernel 支持</a:t>
            </a:r>
            <a:endParaRPr lang="zh-CN" sz="1350"/>
          </a:p>
        </p:txBody>
      </p:sp>
      <p:sp>
        <p:nvSpPr>
          <p:cNvPr id="52" name="Shape 52"/>
          <p:cNvSpPr/>
          <p:nvPr/>
        </p:nvSpPr>
        <p:spPr>
          <a:xfrm>
            <a:off x="650000" y="359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同步边界</a:t>
            </a:r>
            <a:endParaRPr lang="zh-CN" sz="1350"/>
          </a:p>
        </p:txBody>
      </p:sp>
      <p:sp>
        <p:nvSpPr>
          <p:cNvPr id="53" name="Shape 53"/>
          <p:cNvSpPr/>
          <p:nvPr/>
        </p:nvSpPr>
        <p:spPr>
          <a:xfrm>
            <a:off x="4266666" y="359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item, cpu, wait, synchronize</a:t>
            </a:r>
            <a:endParaRPr lang="zh-CN" sz="1350"/>
          </a:p>
        </p:txBody>
      </p:sp>
      <p:sp>
        <p:nvSpPr>
          <p:cNvPr id="54" name="Shape 54"/>
          <p:cNvSpPr/>
          <p:nvPr/>
        </p:nvSpPr>
        <p:spPr>
          <a:xfrm>
            <a:off x="7883332" y="3590000"/>
            <a:ext cx="3616666" cy="560000"/>
          </a:xfrm>
          <a:prstGeom prst="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host wait、D2H、stream 空洞</a:t>
            </a:r>
            <a:endParaRPr lang="zh-CN" sz="1350"/>
          </a:p>
        </p:txBody>
      </p:sp>
      <p:sp>
        <p:nvSpPr>
          <p:cNvPr id="55" name="Shape 55"/>
          <p:cNvSpPr/>
          <p:nvPr/>
        </p:nvSpPr>
        <p:spPr>
          <a:xfrm>
            <a:off x="650000" y="415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Graph 安全</a:t>
            </a:r>
            <a:endParaRPr lang="zh-CN" sz="1350"/>
          </a:p>
        </p:txBody>
      </p:sp>
      <p:sp>
        <p:nvSpPr>
          <p:cNvPr id="56" name="Shape 56"/>
          <p:cNvSpPr/>
          <p:nvPr/>
        </p:nvSpPr>
        <p:spPr>
          <a:xfrm>
            <a:off x="4266666" y="415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copy_, graph.replay</a:t>
            </a:r>
            <a:endParaRPr lang="zh-CN" sz="1350"/>
          </a:p>
        </p:txBody>
      </p:sp>
      <p:sp>
        <p:nvSpPr>
          <p:cNvPr id="57" name="Shape 57"/>
          <p:cNvSpPr/>
          <p:nvPr/>
        </p:nvSpPr>
        <p:spPr>
          <a:xfrm>
            <a:off x="7883332" y="4150000"/>
            <a:ext cx="3616666" cy="560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capture 内 kernel、allocator、固定对象</a:t>
            </a:r>
            <a:endParaRPr lang="zh-CN" sz="135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19</a:t>
            </a:r>
            <a:endParaRPr lang="zh-CN" sz="9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排查项与证据来源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单 OP 语义：附录 A 的完整代码与 MUSA stdout 能证明输入输出符合预期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框架位置：第 2-5 章源码链路能定位 OP 在控制面、metadata、fallback 或热路径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Graph 稳定性：第 6/7 章最小用例能验证固定 shape、固定地址、replay 路径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后端命中：需要 profiler、后端日志和 kernel timeline 继续确认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性能结论：需要 benchmark、吞吐、延迟、显存和带宽数据补齐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20</a:t>
            </a:r>
            <a:endParaRPr lang="zh-CN" sz="9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MUSA 最小用例覆盖的推理场景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源码 OP 链：buffer copy、metadata copy、graph replay、HC fallback、SwiGLU clamp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Prefill metadata：positions、req_pool_indices、out_cache_loc 展开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Decode graph replay：固定 batch bucket、padding、copy_ 更新输入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KV cache 写入：slot_mapping -&gt; page_idx/page_offset -&gt; cache write/read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MoE routing 与 sampling：topk、softmax、combine、device-side argmax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21</a:t>
            </a:r>
            <a:endParaRPr lang="zh-CN" sz="9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常见根因归纳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功能正确但后端错误：静默 CPU/Composite/PyTorch fallback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shape 正确但 layout 错误：stride、contiguous、FP8 scale layout 不满足 kernel 契约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eager 能跑但 Graph 不稳定：动态 shape、allocator、替换 tensor 对象、capture 不支持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同步 API 隐藏在热路径：item/tolist/cpu/synchronize/work.wait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通信功能可用但 overlap 失效：async collective 后立即 wait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22</a:t>
            </a:r>
            <a:endParaRPr lang="zh-CN" sz="9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落地检查清单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先看 OP 语义：shape、dtype、device、stride、广播、in-place 行为是否符合预期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再看后端路径：MUSA native/custom/MuDNN/MCCL/TileLang 还是 fallback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再看框架位置：启动期、控制面、debug、fallback reference，还是每 token 热路径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再看执行模式：eager、compile、Graph、distributed overlap 是否满足同一组约束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最后看失败策略：不支持的 dtype/layout/shape 应 fail-closed 或受控 fallback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23</a:t>
            </a:r>
            <a:endParaRPr lang="zh-CN" sz="9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结论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基于 OP 分类、源码链路和 MUSA 用例分析，OP 是连接模型语义、框架调度、后端 kernel、图捕获和硬件运行时的最小工程单元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“能跑”只说明功能路径打通；“适合热路径”还要看 dispatch、layout、sync、dynamic shape、Graph 和后端质量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SGLang / vLLM / Megatron 的共同模式是：PyTorch 保留语义，热路径交给后端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MUSA 适配的核心不是 cuda -&gt; musa 字符串替换，而是后端能力、Graph 兼容、layout 契约和同步边界的全链路验证</a:t>
            </a:r>
            <a:endParaRPr lang="zh-CN" sz="1700"/>
          </a:p>
        </p:txBody>
      </p:sp>
      <p:sp>
        <p:nvSpPr>
          <p:cNvPr id="70" name="Shape 70"/>
          <p:cNvSpPr/>
          <p:nvPr/>
        </p:nvSpPr>
        <p:spPr>
          <a:xfrm>
            <a:off x="800000" y="5850000"/>
            <a:ext cx="10500000" cy="400000"/>
          </a:xfrm>
          <a:prstGeom prst="rect">
            <a:avLst/>
          </a:prstGeom>
          <a:solidFill>
            <a:srgbClr val="ECFDF5"/>
          </a:solidFill>
          <a:ln>
            <a:solidFill>
              <a:srgbClr val="99F6E4"/>
            </a:solidFill>
          </a:ln>
        </p:spPr>
        <p:txBody>
          <a:bodyPr wrap="square"/>
          <a:lstStyle/>
          <a:p>
            <a:r>
              <a:rPr lang="zh-CN" sz="1450" b="1">
                <a:solidFill>
                  <a:srgbClr val="0F766E"/>
                </a:solidFill>
                <a:latin typeface="Microsoft YaHei"/>
                <a:ea typeface="Microsoft YaHei"/>
              </a:rPr>
              <a:t>一句话：OP 工程质量取决于真实框架链路中的 dispatch、内存语义、同步行为、图捕获能力和后端实现。</a:t>
            </a:r>
            <a:endParaRPr lang="zh-CN" sz="145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24</a:t>
            </a:r>
            <a:endParaRPr lang="zh-CN" sz="9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50000" y="3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100" b="1">
                <a:solidFill>
                  <a:srgbClr val="0F172A"/>
                </a:solidFill>
                <a:latin typeface="Microsoft YaHei"/>
                <a:ea typeface="Microsoft YaHei"/>
              </a:rPr>
              <a:t>关键判断口诀</a:t>
            </a:r>
            <a:endParaRPr lang="zh-CN" sz="3100"/>
          </a:p>
        </p:txBody>
      </p:sp>
      <p:sp>
        <p:nvSpPr>
          <p:cNvPr id="10" name="Shape 10"/>
          <p:cNvSpPr/>
          <p:nvPr/>
        </p:nvSpPr>
        <p:spPr>
          <a:xfrm>
            <a:off x="900000" y="145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能不能进 Graph：不看名字，看是否改变地址、产生动态 shape、触发 CPU 同步、走不支持 capture 的后端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900000" y="201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性能瓶颈第一刀：不看大 GEMM，先看 copy ladder 和小 element-wise 链</a:t>
            </a:r>
            <a:endParaRPr lang="zh-CN" sz="1700"/>
          </a:p>
        </p:txBody>
      </p:sp>
      <p:sp>
        <p:nvSpPr>
          <p:cNvPr id="12" name="Shape 12"/>
          <p:cNvSpPr/>
          <p:nvPr/>
        </p:nvSpPr>
        <p:spPr>
          <a:xfrm>
            <a:off x="900000" y="257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CPU/GPU 边界：device tensor 上的 item/tolist/cpu 是隐式 barrier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900000" y="313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MUSA 适配核心：JIT 机制、FP8 layout、capture 兼容性、clang/NVCC 方言差异都要验证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900000" y="3690000"/>
            <a:ext cx="10400000" cy="4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>• OP 工程质量由真实框架链路中的 dispatch、内存语义、同步行为、图捕获能力和后端实现共同决定</a:t>
            </a:r>
            <a:endParaRPr lang="zh-CN" sz="1700"/>
          </a:p>
        </p:txBody>
      </p:sp>
      <p:sp>
        <p:nvSpPr>
          <p:cNvPr id="80" name="Shape 80"/>
          <p:cNvSpPr/>
          <p:nvPr/>
        </p:nvSpPr>
        <p:spPr>
          <a:xfrm>
            <a:off x="650000" y="6420000"/>
            <a:ext cx="108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50">
                <a:solidFill>
                  <a:srgbClr val="64748B"/>
                </a:solidFill>
                <a:latin typeface="Microsoft YaHei"/>
                <a:ea typeface="Microsoft YaHei"/>
              </a:rPr>
              <a:t>PyTorch OP / SGLang DeepSeek V4 / MUSA 适配    25</a:t>
            </a:r>
            <a:endParaRPr lang="zh-CN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2563EB"/>
      </a:accent2>
      <a:accent3>
        <a:srgbClr val="F59E0B"/>
      </a:accent3>
      <a:accent4>
        <a:srgbClr val="DC2626"/>
      </a:accent4>
      <a:accent5>
        <a:srgbClr val="64748B"/>
      </a:accent5>
      <a:accent6>
        <a:srgbClr val="111827"/>
      </a:accent6>
      <a:hlink>
        <a:srgbClr val="2563EB"/>
      </a:hlink>
      <a:folHlink>
        <a:srgbClr val="7C3AED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PyTorch OP、SGLang DeepSeek V4 与 MUSA 适配技术洞察</dc:title>
  <dc:creator>Codex</dc:creator>
  <cp:lastModifiedBy>Codex</cp:lastModifiedBy>
  <dcterms:created xsi:type="dcterms:W3CDTF">2026-05-21T00:00:00Z</dcterms:created>
  <dcterms:modified xsi:type="dcterms:W3CDTF">2026-05-21T00:00:00Z</dcterms:modified>
</cp:coreProperties>
</file>